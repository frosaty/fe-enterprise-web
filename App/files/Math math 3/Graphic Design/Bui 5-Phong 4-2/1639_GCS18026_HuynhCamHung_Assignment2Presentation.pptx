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8" r:id="rId7"/>
    <p:sldId id="269" r:id="rId8"/>
    <p:sldId id="270" r:id="rId9"/>
    <p:sldId id="272" r:id="rId10"/>
    <p:sldId id="260" r:id="rId11"/>
    <p:sldId id="274" r:id="rId12"/>
    <p:sldId id="275" r:id="rId13"/>
    <p:sldId id="261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300" r:id="rId25"/>
    <p:sldId id="301" r:id="rId26"/>
    <p:sldId id="302" r:id="rId27"/>
    <p:sldId id="303" r:id="rId28"/>
    <p:sldId id="306" r:id="rId29"/>
    <p:sldId id="262" r:id="rId30"/>
    <p:sldId id="286" r:id="rId31"/>
    <p:sldId id="287" r:id="rId32"/>
    <p:sldId id="288" r:id="rId33"/>
    <p:sldId id="289" r:id="rId34"/>
    <p:sldId id="290" r:id="rId35"/>
    <p:sldId id="291" r:id="rId36"/>
    <p:sldId id="293" r:id="rId37"/>
    <p:sldId id="263" r:id="rId38"/>
    <p:sldId id="265" r:id="rId39"/>
    <p:sldId id="266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6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5052" y="1473200"/>
            <a:ext cx="10943167" cy="1082675"/>
          </a:xfrm>
        </p:spPr>
        <p:txBody>
          <a:bodyPr/>
          <a:lstStyle/>
          <a:p>
            <a:r>
              <a:rPr lang="en-US" dirty="0"/>
              <a:t>How Google Digital Wellbeing improve people life</a:t>
            </a:r>
            <a:endParaRPr lang="en-US" dirty="0"/>
          </a:p>
        </p:txBody>
      </p:sp>
      <p:sp>
        <p:nvSpPr>
          <p:cNvPr id="4" name="Text Box 3"/>
          <p:cNvSpPr txBox="1"/>
          <p:nvPr/>
        </p:nvSpPr>
        <p:spPr>
          <a:xfrm>
            <a:off x="8306435" y="5781675"/>
            <a:ext cx="36957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>
                <a:solidFill>
                  <a:srgbClr val="FF0000"/>
                </a:solidFill>
              </a:rPr>
              <a:t>Huynh Cam Hung</a:t>
            </a:r>
            <a:endParaRPr lang="en-US">
              <a:solidFill>
                <a:srgbClr val="FF0000"/>
              </a:solidFill>
            </a:endParaRPr>
          </a:p>
          <a:p>
            <a:pPr algn="r"/>
            <a:r>
              <a:rPr lang="en-US">
                <a:solidFill>
                  <a:srgbClr val="FF0000"/>
                </a:solidFill>
              </a:rPr>
              <a:t>GCS18026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Table of contents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Introduction</a:t>
            </a:r>
            <a:endParaRPr lang="en-US"/>
          </a:p>
          <a:p>
            <a:r>
              <a:rPr lang="en-US"/>
              <a:t>Literature review</a:t>
            </a:r>
            <a:endParaRPr lang="en-US"/>
          </a:p>
          <a:p>
            <a:r>
              <a:rPr lang="en-US"/>
              <a:t>Data collection</a:t>
            </a:r>
            <a:endParaRPr lang="en-US"/>
          </a:p>
          <a:p>
            <a:r>
              <a:rPr lang="en-US"/>
              <a:t>Data analysis</a:t>
            </a:r>
            <a:endParaRPr lang="en-US"/>
          </a:p>
          <a:p>
            <a:r>
              <a:rPr lang="en-US"/>
              <a:t>Outcome</a:t>
            </a:r>
            <a:endParaRPr lang="en-US"/>
          </a:p>
          <a:p>
            <a:r>
              <a:rPr lang="en-US"/>
              <a:t>Conclusion and Evaluation</a:t>
            </a:r>
            <a:endParaRPr lang="en-US"/>
          </a:p>
          <a:p>
            <a:r>
              <a:rPr lang="en-US"/>
              <a:t>Q &amp; A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Introduction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The purpose of the project is to research about Google Digital Wellbeing and its impact.</a:t>
            </a:r>
            <a:endParaRPr lang="en-US"/>
          </a:p>
          <a:p>
            <a:r>
              <a:rPr lang="en-US"/>
              <a:t>Objectives of the project:</a:t>
            </a:r>
            <a:endParaRPr lang="en-US"/>
          </a:p>
          <a:p>
            <a:pPr lvl="1"/>
            <a:r>
              <a:rPr lang="en-US"/>
              <a:t> Research and analyze smart phone usage of people</a:t>
            </a:r>
            <a:endParaRPr lang="en-US"/>
          </a:p>
          <a:p>
            <a:pPr lvl="1"/>
            <a:r>
              <a:rPr lang="en-US"/>
              <a:t> Research the key features of Google Digital Wellbeing</a:t>
            </a:r>
            <a:endParaRPr lang="en-US"/>
          </a:p>
          <a:p>
            <a:pPr lvl="1"/>
            <a:r>
              <a:rPr lang="en-US"/>
              <a:t> Research the users opinion of the application</a:t>
            </a:r>
            <a:endParaRPr lang="en-US"/>
          </a:p>
          <a:p>
            <a:pPr lvl="1"/>
            <a:r>
              <a:rPr lang="en-US"/>
              <a:t> Analyze the accuracy of the opinions</a:t>
            </a:r>
            <a:endParaRPr lang="en-US"/>
          </a:p>
          <a:p>
            <a:pPr lvl="1"/>
            <a:r>
              <a:rPr lang="en-US"/>
              <a:t> Analyze the efficiency of application via opinions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Literature review: Quantitative research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Definition:</a:t>
            </a:r>
            <a:endParaRPr lang="en-US"/>
          </a:p>
          <a:p>
            <a:pPr marL="0" indent="0">
              <a:buNone/>
            </a:pPr>
            <a:r>
              <a:rPr lang="en-US"/>
              <a:t>It is a systematic research of phenomena observed through numberic data.</a:t>
            </a:r>
            <a:endParaRPr lang="en-US"/>
          </a:p>
          <a:p>
            <a:r>
              <a:rPr lang="en-US"/>
              <a:t>Quantitative research methods:</a:t>
            </a:r>
            <a:endParaRPr lang="en-US"/>
          </a:p>
          <a:p>
            <a:pPr lvl="1"/>
            <a:r>
              <a:rPr lang="en-US" sz="2800"/>
              <a:t>Survey</a:t>
            </a:r>
            <a:endParaRPr lang="en-US" sz="2800"/>
          </a:p>
          <a:p>
            <a:pPr lvl="1"/>
            <a:r>
              <a:rPr lang="en-US" sz="2800"/>
              <a:t>Correlational research</a:t>
            </a:r>
            <a:endParaRPr lang="en-US" sz="2800"/>
          </a:p>
          <a:p>
            <a:pPr lvl="1"/>
            <a:r>
              <a:rPr lang="en-US" sz="2800"/>
              <a:t>Casual-Comparative research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Literature review:</a:t>
            </a:r>
            <a:r>
              <a:rPr lang="en-US">
                <a:sym typeface="+mn-ea"/>
              </a:rPr>
              <a:t> Quantitative research </a:t>
            </a:r>
            <a:r>
              <a:rPr lang="en-US"/>
              <a:t>(cont)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b="1"/>
              <a:t>Quantitative research:</a:t>
            </a:r>
            <a:endParaRPr lang="en-US" b="1"/>
          </a:p>
          <a:p>
            <a:r>
              <a:rPr lang="en-US"/>
              <a:t>Advantages:</a:t>
            </a:r>
            <a:endParaRPr lang="en-US"/>
          </a:p>
          <a:p>
            <a:pPr lvl="1"/>
            <a:r>
              <a:rPr lang="en-US" sz="2800"/>
              <a:t>Data collection occur rapidly</a:t>
            </a:r>
            <a:endParaRPr lang="en-US" sz="2800"/>
          </a:p>
          <a:p>
            <a:pPr lvl="1"/>
            <a:r>
              <a:rPr lang="en-US"/>
              <a:t>The samples are randomized</a:t>
            </a:r>
            <a:endParaRPr lang="en-US"/>
          </a:p>
          <a:p>
            <a:pPr lvl="1"/>
            <a:r>
              <a:rPr lang="en-US"/>
              <a:t>Offer reliable and repeatable data  </a:t>
            </a:r>
            <a:endParaRPr lang="en-US"/>
          </a:p>
          <a:p>
            <a:r>
              <a:rPr lang="en-US"/>
              <a:t>Disadvantages:</a:t>
            </a:r>
            <a:endParaRPr lang="en-US"/>
          </a:p>
          <a:p>
            <a:pPr lvl="1"/>
            <a:r>
              <a:rPr lang="en-US" sz="2800"/>
              <a:t>Can not determine the accuracy of answers</a:t>
            </a:r>
            <a:endParaRPr lang="en-US" sz="2800"/>
          </a:p>
          <a:p>
            <a:pPr lvl="1"/>
            <a:r>
              <a:rPr lang="en-US"/>
              <a:t>Unable to follow-up answers</a:t>
            </a:r>
            <a:endParaRPr lang="en-US"/>
          </a:p>
          <a:p>
            <a:pPr lvl="1"/>
            <a:r>
              <a:rPr lang="en-US"/>
              <a:t>Participant may not represent the population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Literature review</a:t>
            </a:r>
            <a:r>
              <a:rPr lang="en-US">
                <a:sym typeface="+mn-ea"/>
              </a:rPr>
              <a:t>:</a:t>
            </a:r>
            <a:r>
              <a:rPr lang="en-US">
                <a:sym typeface="+mn-ea"/>
              </a:rPr>
              <a:t> Qualitative research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Definition:</a:t>
            </a:r>
            <a:endParaRPr lang="en-US"/>
          </a:p>
          <a:p>
            <a:pPr marL="0" indent="0">
              <a:buNone/>
            </a:pPr>
            <a:r>
              <a:rPr lang="en-US"/>
              <a:t>Quanlitative research is used to gain an in-depth understanding of human behavior and its reasons.</a:t>
            </a:r>
            <a:endParaRPr lang="en-US"/>
          </a:p>
          <a:p>
            <a:r>
              <a:rPr lang="en-US"/>
              <a:t>Quantitative research methods:</a:t>
            </a:r>
            <a:endParaRPr lang="en-US"/>
          </a:p>
          <a:p>
            <a:pPr lvl="1"/>
            <a:r>
              <a:rPr lang="en-US" sz="2800"/>
              <a:t>Interview</a:t>
            </a:r>
            <a:endParaRPr lang="en-US" sz="2800"/>
          </a:p>
          <a:p>
            <a:pPr lvl="1"/>
            <a:r>
              <a:rPr lang="en-US" sz="2800"/>
              <a:t>Focus groups</a:t>
            </a:r>
            <a:endParaRPr lang="en-US" sz="2800"/>
          </a:p>
          <a:p>
            <a:pPr lvl="1"/>
            <a:r>
              <a:rPr lang="en-US" sz="2800"/>
              <a:t>Ethnographic research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Literature review</a:t>
            </a:r>
            <a:r>
              <a:rPr lang="en-US">
                <a:sym typeface="+mn-ea"/>
              </a:rPr>
              <a:t>: Qualitative research (cont)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Advantages:</a:t>
            </a:r>
            <a:endParaRPr lang="en-US"/>
          </a:p>
          <a:p>
            <a:pPr lvl="1"/>
            <a:r>
              <a:rPr lang="en-US" sz="2800"/>
              <a:t>Great detail data</a:t>
            </a:r>
            <a:endParaRPr lang="en-US" sz="2800"/>
          </a:p>
          <a:p>
            <a:pPr lvl="1"/>
            <a:r>
              <a:rPr lang="en-US"/>
              <a:t>Open-ended process</a:t>
            </a:r>
            <a:endParaRPr lang="en-US"/>
          </a:p>
          <a:p>
            <a:pPr lvl="1"/>
            <a:r>
              <a:rPr lang="en-US"/>
              <a:t>Able to collect predicttive quality data  </a:t>
            </a:r>
            <a:endParaRPr lang="en-US"/>
          </a:p>
          <a:p>
            <a:r>
              <a:rPr lang="en-US"/>
              <a:t>Disadvantages:</a:t>
            </a:r>
            <a:endParaRPr lang="en-US"/>
          </a:p>
          <a:p>
            <a:pPr lvl="1"/>
            <a:r>
              <a:rPr lang="en-US" sz="2800"/>
              <a:t>Time consuming</a:t>
            </a:r>
            <a:endParaRPr lang="en-US" sz="2800"/>
          </a:p>
          <a:p>
            <a:pPr lvl="1"/>
            <a:r>
              <a:rPr lang="en-US"/>
              <a:t>Collected data not always accepted </a:t>
            </a:r>
            <a:endParaRPr lang="en-US"/>
          </a:p>
          <a:p>
            <a:pPr lvl="1"/>
            <a:r>
              <a:rPr lang="en-US"/>
              <a:t>Repliacting results can be difficult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Data collection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The data collection process was conducted via three methods:</a:t>
            </a:r>
            <a:endParaRPr lang="en-US"/>
          </a:p>
          <a:p>
            <a:pPr lvl="1"/>
            <a:r>
              <a:rPr lang="en-US"/>
              <a:t>Survey</a:t>
            </a:r>
            <a:endParaRPr lang="en-US"/>
          </a:p>
          <a:p>
            <a:pPr lvl="1"/>
            <a:r>
              <a:rPr lang="en-US"/>
              <a:t>Interview</a:t>
            </a:r>
            <a:endParaRPr lang="en-US"/>
          </a:p>
          <a:p>
            <a:pPr lvl="1"/>
            <a:r>
              <a:rPr lang="en-US"/>
              <a:t>Collect data from internet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Data collection: Survey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The survey included 10 selection questions.</a:t>
            </a:r>
            <a:endParaRPr lang="en-US"/>
          </a:p>
          <a:p>
            <a:r>
              <a:rPr lang="en-US"/>
              <a:t>These were 20 respondents participating in the survey.</a:t>
            </a:r>
            <a:endParaRPr lang="en-US"/>
          </a:p>
          <a:p>
            <a:r>
              <a:rPr lang="en-US"/>
              <a:t>The survey was conducted via Google Form.</a:t>
            </a:r>
            <a:endParaRPr lang="en-US"/>
          </a:p>
          <a:p>
            <a:r>
              <a:rPr lang="en-US"/>
              <a:t>Link of the survey form: </a:t>
            </a:r>
            <a:r>
              <a:rPr lang="en-US" sz="2400" u="sng">
                <a:solidFill>
                  <a:schemeClr val="accent1"/>
                </a:solidFill>
              </a:rPr>
              <a:t>https://docs.google.com/forms/d/e/1FAIpQLSf8tsP86AqAzo33m2l-IFZX8FyWKclT8I_5XkJpF6epiNVWGg/viewform</a:t>
            </a:r>
            <a:endParaRPr lang="en-US" sz="2400"/>
          </a:p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Data collection: </a:t>
            </a:r>
            <a:r>
              <a:rPr lang="en-US">
                <a:sym typeface="+mn-ea"/>
              </a:rPr>
              <a:t>Interview</a:t>
            </a:r>
            <a:endParaRPr lang="en-US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The interview included 6 questions.</a:t>
            </a:r>
            <a:endParaRPr lang="en-US"/>
          </a:p>
          <a:p>
            <a:r>
              <a:rPr lang="en-US"/>
              <a:t>These were 20 respondents participating in the interview.</a:t>
            </a:r>
            <a:endParaRPr lang="en-US"/>
          </a:p>
          <a:p>
            <a:r>
              <a:rPr lang="en-US"/>
              <a:t>The interview was conducted via face to face interview.</a:t>
            </a:r>
            <a:endParaRPr lang="en-US"/>
          </a:p>
          <a:p>
            <a:r>
              <a:rPr lang="en-US"/>
              <a:t>Link of the interview questions form: </a:t>
            </a:r>
            <a:r>
              <a:rPr lang="en-US" sz="2400" u="sng">
                <a:solidFill>
                  <a:schemeClr val="accent1"/>
                </a:solidFill>
              </a:rPr>
              <a:t>https://docs.google.com/forms/d/e/1FAIpQLSdrLb8AA6yava0K1dJENMNcM_78DEJUp0Qg5DIPb8llBG5Tyg/viewform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Data collection: </a:t>
            </a:r>
            <a:r>
              <a:rPr lang="en-US">
                <a:sym typeface="+mn-ea"/>
              </a:rPr>
              <a:t>Collect data from internet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These are two information collected from internet: </a:t>
            </a:r>
            <a:endParaRPr lang="en-US"/>
          </a:p>
          <a:p>
            <a:pPr lvl="1"/>
            <a:r>
              <a:rPr lang="en-US"/>
              <a:t>Features of Google Digital Wellbeing:</a:t>
            </a:r>
            <a:endParaRPr lang="en-US"/>
          </a:p>
          <a:p>
            <a:pPr lvl="2"/>
            <a:r>
              <a:rPr lang="en-US" sz="2400"/>
              <a:t>Five main features of the application: Dashboard, Focus Mode, App Timer, Wind Down.</a:t>
            </a:r>
            <a:endParaRPr lang="en-US" sz="2400"/>
          </a:p>
          <a:p>
            <a:pPr lvl="2"/>
            <a:r>
              <a:rPr lang="en-US"/>
              <a:t>Link:</a:t>
            </a:r>
            <a:r>
              <a:rPr lang="en-US" u="sng">
                <a:solidFill>
                  <a:schemeClr val="accent1"/>
                </a:solidFill>
              </a:rPr>
              <a:t>https://wellbeing.google/tools/</a:t>
            </a:r>
            <a:endParaRPr lang="en-US"/>
          </a:p>
          <a:p>
            <a:pPr lvl="1"/>
            <a:r>
              <a:rPr lang="en-US"/>
              <a:t>The feedbacks from users.</a:t>
            </a:r>
            <a:endParaRPr lang="en-US"/>
          </a:p>
          <a:p>
            <a:pPr lvl="2"/>
            <a:r>
              <a:rPr lang="en-US"/>
              <a:t>12 most detailed and valuable feedbacks from the official review sites.</a:t>
            </a:r>
            <a:endParaRPr lang="en-US"/>
          </a:p>
          <a:p>
            <a:pPr lvl="2"/>
            <a:r>
              <a:rPr lang="en-US"/>
              <a:t>Link:</a:t>
            </a:r>
            <a:r>
              <a:rPr lang="en-US" u="sng">
                <a:solidFill>
                  <a:schemeClr val="accent1"/>
                </a:solidFill>
              </a:rPr>
              <a:t>https://play.google.com/store/apps/details?id=com.google.android.apps.wellbeing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Data analysis: Survey data analysis </a:t>
            </a:r>
            <a:r>
              <a:rPr lang="en-US">
                <a:sym typeface="+mn-ea"/>
              </a:rPr>
              <a:t>(cont)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/>
              <a:t>Question 1 data:</a:t>
            </a:r>
            <a:endParaRPr lang="en-US"/>
          </a:p>
          <a:p>
            <a:pPr lvl="1"/>
            <a:r>
              <a:rPr lang="en-US"/>
              <a:t>More than five hours: </a:t>
            </a:r>
            <a:r>
              <a:rPr lang="en-US">
                <a:sym typeface="+mn-ea"/>
              </a:rPr>
              <a:t>60%</a:t>
            </a:r>
            <a:endParaRPr lang="en-US"/>
          </a:p>
          <a:p>
            <a:pPr lvl="1"/>
            <a:r>
              <a:rPr lang="en-US"/>
              <a:t>Two to five hours: </a:t>
            </a:r>
            <a:r>
              <a:rPr lang="en-US">
                <a:sym typeface="+mn-ea"/>
              </a:rPr>
              <a:t>20%</a:t>
            </a:r>
            <a:endParaRPr lang="en-US">
              <a:sym typeface="+mn-ea"/>
            </a:endParaRPr>
          </a:p>
          <a:p>
            <a:pPr lvl="1"/>
            <a:r>
              <a:rPr lang="en-US"/>
              <a:t> Less than two hours: 20%</a:t>
            </a:r>
            <a:endParaRPr lang="en-US"/>
          </a:p>
          <a:p>
            <a:pPr lvl="1"/>
            <a:r>
              <a:rPr lang="en-US"/>
              <a:t> Less than an hours: 0%</a:t>
            </a:r>
            <a:endParaRPr lang="en-US"/>
          </a:p>
          <a:p>
            <a:r>
              <a:rPr lang="en-US"/>
              <a:t>Analysis result:</a:t>
            </a:r>
            <a:endParaRPr lang="en-US"/>
          </a:p>
          <a:p>
            <a:pPr lvl="1"/>
            <a:r>
              <a:rPr lang="en-US"/>
              <a:t>People spend large amount of time on smart phone. </a:t>
            </a:r>
            <a:endParaRPr lang="en-US"/>
          </a:p>
        </p:txBody>
      </p:sp>
      <p:pic>
        <p:nvPicPr>
          <p:cNvPr id="7" name="Picture 10"/>
          <p:cNvPicPr/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352540" y="2174240"/>
            <a:ext cx="5440680" cy="295351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Data analysis: Survey data analysis </a:t>
            </a:r>
            <a:r>
              <a:rPr lang="en-US">
                <a:sym typeface="+mn-ea"/>
              </a:rPr>
              <a:t>(cont)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>
                <a:sym typeface="+mn-ea"/>
              </a:rPr>
              <a:t>Question 2 data</a:t>
            </a:r>
            <a:r>
              <a:rPr lang="en-US"/>
              <a:t>:</a:t>
            </a:r>
            <a:endParaRPr lang="en-US"/>
          </a:p>
          <a:p>
            <a:pPr lvl="1"/>
            <a:r>
              <a:rPr lang="en-US"/>
              <a:t>Social media applications: 35</a:t>
            </a:r>
            <a:r>
              <a:rPr lang="en-US">
                <a:sym typeface="+mn-ea"/>
              </a:rPr>
              <a:t>%</a:t>
            </a:r>
            <a:endParaRPr lang="en-US"/>
          </a:p>
          <a:p>
            <a:pPr lvl="1"/>
            <a:r>
              <a:rPr lang="en-US"/>
              <a:t>Videos games: </a:t>
            </a:r>
            <a:r>
              <a:rPr lang="en-US">
                <a:sym typeface="+mn-ea"/>
              </a:rPr>
              <a:t>25%</a:t>
            </a:r>
            <a:endParaRPr lang="en-US">
              <a:sym typeface="+mn-ea"/>
            </a:endParaRPr>
          </a:p>
          <a:p>
            <a:pPr lvl="1"/>
            <a:r>
              <a:rPr lang="en-US"/>
              <a:t>Web browsers: 20%</a:t>
            </a:r>
            <a:endParaRPr lang="en-US"/>
          </a:p>
          <a:p>
            <a:pPr lvl="1"/>
            <a:r>
              <a:rPr lang="en-US">
                <a:sym typeface="+mn-ea"/>
              </a:rPr>
              <a:t>Applications for studying and working: 20</a:t>
            </a:r>
            <a:r>
              <a:rPr lang="en-US">
                <a:sym typeface="+mn-ea"/>
              </a:rPr>
              <a:t>%</a:t>
            </a:r>
            <a:endParaRPr lang="en-US"/>
          </a:p>
          <a:p>
            <a:r>
              <a:rPr lang="en-US"/>
              <a:t>Analysis result:</a:t>
            </a:r>
            <a:endParaRPr lang="en-US"/>
          </a:p>
          <a:p>
            <a:pPr lvl="1"/>
            <a:r>
              <a:rPr lang="en-US"/>
              <a:t>People likely to spend time on unhealthy applications. </a:t>
            </a:r>
            <a:endParaRPr lang="en-US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3970" y="2172335"/>
            <a:ext cx="5440045" cy="29571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Data analysis: Survey data analysis </a:t>
            </a:r>
            <a:r>
              <a:rPr lang="en-US">
                <a:sym typeface="+mn-ea"/>
              </a:rPr>
              <a:t>(cont)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>
                <a:sym typeface="+mn-ea"/>
              </a:rPr>
              <a:t>Question 3 data</a:t>
            </a:r>
            <a:r>
              <a:rPr lang="en-US"/>
              <a:t>:</a:t>
            </a:r>
            <a:endParaRPr lang="en-US"/>
          </a:p>
          <a:p>
            <a:pPr lvl="1"/>
            <a:r>
              <a:rPr lang="en-US"/>
              <a:t>Consider unhealthy: 8</a:t>
            </a:r>
            <a:r>
              <a:rPr lang="en-US">
                <a:sym typeface="+mn-ea"/>
              </a:rPr>
              <a:t>0%</a:t>
            </a:r>
            <a:endParaRPr lang="en-US"/>
          </a:p>
          <a:p>
            <a:pPr lvl="1"/>
            <a:r>
              <a:rPr lang="en-US"/>
              <a:t>Consider healthy: </a:t>
            </a:r>
            <a:r>
              <a:rPr lang="en-US">
                <a:sym typeface="+mn-ea"/>
              </a:rPr>
              <a:t>20%</a:t>
            </a:r>
            <a:endParaRPr lang="en-US"/>
          </a:p>
          <a:p>
            <a:r>
              <a:rPr lang="en-US"/>
              <a:t>Analysis result:</a:t>
            </a:r>
            <a:endParaRPr lang="en-US"/>
          </a:p>
          <a:p>
            <a:pPr lvl="1"/>
            <a:r>
              <a:rPr lang="en-US"/>
              <a:t>Most of people admitted that their behaviors are unhealthy. </a:t>
            </a:r>
            <a:endParaRPr lang="en-US"/>
          </a:p>
        </p:txBody>
      </p:sp>
      <p:pic>
        <p:nvPicPr>
          <p:cNvPr id="14" name="Picture 14"/>
          <p:cNvPicPr/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370320" y="2174240"/>
            <a:ext cx="5440680" cy="295351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Data analysis: Survey data analysis </a:t>
            </a:r>
            <a:r>
              <a:rPr lang="en-US">
                <a:sym typeface="+mn-ea"/>
              </a:rPr>
              <a:t>(cont)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>
                <a:sym typeface="+mn-ea"/>
              </a:rPr>
              <a:t>Question 4 data</a:t>
            </a:r>
            <a:r>
              <a:rPr lang="en-US"/>
              <a:t>:</a:t>
            </a:r>
            <a:endParaRPr lang="en-US"/>
          </a:p>
          <a:p>
            <a:pPr lvl="1"/>
            <a:r>
              <a:rPr lang="en-US"/>
              <a:t>Behavior become better: 85%</a:t>
            </a:r>
            <a:endParaRPr lang="en-US"/>
          </a:p>
          <a:p>
            <a:pPr lvl="1"/>
            <a:r>
              <a:rPr lang="en-US">
                <a:sym typeface="+mn-ea"/>
              </a:rPr>
              <a:t>Behavior not become better</a:t>
            </a:r>
            <a:r>
              <a:rPr lang="en-US"/>
              <a:t>: 15</a:t>
            </a:r>
            <a:r>
              <a:rPr lang="en-US">
                <a:sym typeface="+mn-ea"/>
              </a:rPr>
              <a:t>%</a:t>
            </a:r>
            <a:endParaRPr lang="en-US"/>
          </a:p>
          <a:p>
            <a:r>
              <a:rPr lang="en-US"/>
              <a:t>Analysis result:</a:t>
            </a:r>
            <a:endParaRPr lang="en-US"/>
          </a:p>
          <a:p>
            <a:pPr lvl="1"/>
            <a:r>
              <a:rPr lang="en-US"/>
              <a:t>Google Digital can help adjusting most of people unhealthy behavior. </a:t>
            </a:r>
            <a:endParaRPr lang="en-US"/>
          </a:p>
        </p:txBody>
      </p:sp>
      <p:pic>
        <p:nvPicPr>
          <p:cNvPr id="15" name="Picture 15"/>
          <p:cNvPicPr/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379845" y="2174875"/>
            <a:ext cx="5440680" cy="295351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Data analysis: Survey data analysis </a:t>
            </a:r>
            <a:r>
              <a:rPr lang="en-US">
                <a:sym typeface="+mn-ea"/>
              </a:rPr>
              <a:t>(cont)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>
                <a:sym typeface="+mn-ea"/>
              </a:rPr>
              <a:t>Question 5 data</a:t>
            </a:r>
            <a:r>
              <a:rPr lang="en-US"/>
              <a:t>:</a:t>
            </a:r>
            <a:endParaRPr lang="en-US"/>
          </a:p>
          <a:p>
            <a:pPr lvl="1"/>
            <a:r>
              <a:rPr lang="en-US"/>
              <a:t>More than five hours: </a:t>
            </a:r>
            <a:r>
              <a:rPr lang="en-US">
                <a:sym typeface="+mn-ea"/>
              </a:rPr>
              <a:t>0%</a:t>
            </a:r>
            <a:endParaRPr lang="en-US"/>
          </a:p>
          <a:p>
            <a:pPr lvl="1"/>
            <a:r>
              <a:rPr lang="en-US"/>
              <a:t>Two to five hours: 4</a:t>
            </a:r>
            <a:r>
              <a:rPr lang="en-US">
                <a:sym typeface="+mn-ea"/>
              </a:rPr>
              <a:t>0%</a:t>
            </a:r>
            <a:endParaRPr lang="en-US">
              <a:sym typeface="+mn-ea"/>
            </a:endParaRPr>
          </a:p>
          <a:p>
            <a:pPr lvl="1"/>
            <a:r>
              <a:rPr lang="en-US"/>
              <a:t>Less than two hours: 55%</a:t>
            </a:r>
            <a:endParaRPr lang="en-US"/>
          </a:p>
          <a:p>
            <a:pPr lvl="1"/>
            <a:r>
              <a:rPr lang="en-US">
                <a:sym typeface="+mn-ea"/>
              </a:rPr>
              <a:t>Less than an hours: 5%</a:t>
            </a:r>
            <a:endParaRPr lang="en-US"/>
          </a:p>
          <a:p>
            <a:r>
              <a:rPr lang="en-US"/>
              <a:t>Analysis result:</a:t>
            </a:r>
            <a:endParaRPr lang="en-US"/>
          </a:p>
          <a:p>
            <a:pPr lvl="1"/>
            <a:r>
              <a:rPr lang="en-US"/>
              <a:t>The time of people spend on smart phone reduce significantly after using the application. </a:t>
            </a:r>
            <a:endParaRPr lang="en-US"/>
          </a:p>
        </p:txBody>
      </p:sp>
      <p:pic>
        <p:nvPicPr>
          <p:cNvPr id="16" name="Picture 16"/>
          <p:cNvPicPr/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360795" y="2174240"/>
            <a:ext cx="5440680" cy="295351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Data analysis: Survey data analysis </a:t>
            </a:r>
            <a:r>
              <a:rPr lang="en-US">
                <a:sym typeface="+mn-ea"/>
              </a:rPr>
              <a:t>(cont)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 sz="3200">
                <a:sym typeface="+mn-ea"/>
              </a:rPr>
              <a:t>Question 6 data</a:t>
            </a:r>
            <a:r>
              <a:rPr lang="en-US" sz="3200">
                <a:sym typeface="+mn-ea"/>
              </a:rPr>
              <a:t>:</a:t>
            </a:r>
            <a:endParaRPr lang="en-US" sz="3200">
              <a:sym typeface="+mn-ea"/>
            </a:endParaRPr>
          </a:p>
          <a:p>
            <a:pPr lvl="1"/>
            <a:r>
              <a:rPr lang="en-US" sz="2800">
                <a:sym typeface="+mn-ea"/>
              </a:rPr>
              <a:t>Social media applications: 45</a:t>
            </a:r>
            <a:r>
              <a:rPr lang="en-US" sz="2800">
                <a:sym typeface="+mn-ea"/>
              </a:rPr>
              <a:t>%</a:t>
            </a:r>
            <a:endParaRPr lang="en-US" sz="2800">
              <a:sym typeface="+mn-ea"/>
            </a:endParaRPr>
          </a:p>
          <a:p>
            <a:pPr lvl="1"/>
            <a:r>
              <a:rPr lang="en-US" sz="2800">
                <a:sym typeface="+mn-ea"/>
              </a:rPr>
              <a:t>Videos games: 1</a:t>
            </a:r>
            <a:r>
              <a:rPr lang="en-US" sz="2800">
                <a:sym typeface="+mn-ea"/>
              </a:rPr>
              <a:t>5%</a:t>
            </a:r>
            <a:endParaRPr lang="en-US" sz="2800">
              <a:sym typeface="+mn-ea"/>
            </a:endParaRPr>
          </a:p>
          <a:p>
            <a:pPr lvl="1"/>
            <a:r>
              <a:rPr lang="en-US" sz="2800">
                <a:sym typeface="+mn-ea"/>
              </a:rPr>
              <a:t>Web browsers: 20%</a:t>
            </a:r>
            <a:endParaRPr lang="en-US" sz="2800"/>
          </a:p>
          <a:p>
            <a:pPr lvl="1"/>
            <a:r>
              <a:rPr lang="en-US" sz="2800">
                <a:sym typeface="+mn-ea"/>
              </a:rPr>
              <a:t>Applications for studying and working: 20%</a:t>
            </a:r>
            <a:endParaRPr lang="en-US" sz="2800"/>
          </a:p>
          <a:p>
            <a:r>
              <a:rPr lang="en-US" sz="3200">
                <a:sym typeface="+mn-ea"/>
              </a:rPr>
              <a:t>Analysis result:</a:t>
            </a:r>
            <a:endParaRPr lang="en-US" sz="3200">
              <a:sym typeface="+mn-ea"/>
            </a:endParaRPr>
          </a:p>
          <a:p>
            <a:pPr lvl="1"/>
            <a:r>
              <a:rPr lang="en-US" sz="2800">
                <a:sym typeface="+mn-ea"/>
              </a:rPr>
              <a:t>The favourite applications of people do not change much</a:t>
            </a:r>
            <a:r>
              <a:rPr lang="en-US" sz="2450">
                <a:sym typeface="+mn-ea"/>
              </a:rPr>
              <a:t>.</a:t>
            </a:r>
            <a:r>
              <a:rPr lang="en-US"/>
              <a:t> </a:t>
            </a:r>
            <a:endParaRPr lang="en-US"/>
          </a:p>
        </p:txBody>
      </p:sp>
      <p:pic>
        <p:nvPicPr>
          <p:cNvPr id="17" name="Picture 17"/>
          <p:cNvPicPr/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360795" y="2174875"/>
            <a:ext cx="5440680" cy="295351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Data analysis: Survey data analysis </a:t>
            </a:r>
            <a:r>
              <a:rPr lang="en-US">
                <a:sym typeface="+mn-ea"/>
              </a:rPr>
              <a:t>(cont)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>
                <a:sym typeface="+mn-ea"/>
              </a:rPr>
              <a:t>Question 7 data</a:t>
            </a:r>
            <a:r>
              <a:rPr lang="en-US"/>
              <a:t>:</a:t>
            </a:r>
            <a:endParaRPr lang="en-US"/>
          </a:p>
          <a:p>
            <a:pPr lvl="1"/>
            <a:r>
              <a:rPr lang="en-US"/>
              <a:t>Very good: 25</a:t>
            </a:r>
            <a:r>
              <a:rPr lang="en-US">
                <a:sym typeface="+mn-ea"/>
              </a:rPr>
              <a:t>%</a:t>
            </a:r>
            <a:endParaRPr lang="en-US"/>
          </a:p>
          <a:p>
            <a:pPr lvl="1"/>
            <a:r>
              <a:rPr lang="en-US"/>
              <a:t>Good: 55</a:t>
            </a:r>
            <a:r>
              <a:rPr lang="en-US">
                <a:sym typeface="+mn-ea"/>
              </a:rPr>
              <a:t>%</a:t>
            </a:r>
            <a:endParaRPr lang="en-US">
              <a:sym typeface="+mn-ea"/>
            </a:endParaRPr>
          </a:p>
          <a:p>
            <a:pPr lvl="1"/>
            <a:r>
              <a:rPr lang="en-US"/>
              <a:t>Medium: 20%</a:t>
            </a:r>
            <a:endParaRPr lang="en-US"/>
          </a:p>
          <a:p>
            <a:pPr lvl="1"/>
            <a:r>
              <a:rPr lang="en-US"/>
              <a:t>Bad: 0%</a:t>
            </a:r>
            <a:endParaRPr lang="en-US"/>
          </a:p>
          <a:p>
            <a:pPr lvl="1"/>
            <a:r>
              <a:rPr lang="en-US"/>
              <a:t>Very Bad: 0%</a:t>
            </a:r>
            <a:endParaRPr lang="en-US"/>
          </a:p>
          <a:p>
            <a:r>
              <a:rPr lang="en-US"/>
              <a:t>Analysis result:</a:t>
            </a:r>
            <a:endParaRPr lang="en-US"/>
          </a:p>
          <a:p>
            <a:pPr lvl="1"/>
            <a:r>
              <a:rPr lang="en-US"/>
              <a:t>Most of people consider Google Digital Wellbeing is a good application. </a:t>
            </a:r>
            <a:endParaRPr lang="en-US"/>
          </a:p>
        </p:txBody>
      </p:sp>
      <p:pic>
        <p:nvPicPr>
          <p:cNvPr id="18" name="Picture 18"/>
          <p:cNvPicPr/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360795" y="2174240"/>
            <a:ext cx="5440680" cy="295351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Data analysis: Survey data analysis </a:t>
            </a:r>
            <a:r>
              <a:rPr lang="en-US">
                <a:sym typeface="+mn-ea"/>
              </a:rPr>
              <a:t>(cont)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>
                <a:sym typeface="+mn-ea"/>
              </a:rPr>
              <a:t>Question 8 data</a:t>
            </a:r>
            <a:r>
              <a:rPr lang="en-US"/>
              <a:t>:</a:t>
            </a:r>
            <a:endParaRPr lang="en-US"/>
          </a:p>
          <a:p>
            <a:pPr lvl="1"/>
            <a:r>
              <a:rPr lang="en-US"/>
              <a:t>Dashboard: 9(45</a:t>
            </a:r>
            <a:r>
              <a:rPr lang="en-US">
                <a:sym typeface="+mn-ea"/>
              </a:rPr>
              <a:t>%)</a:t>
            </a:r>
            <a:endParaRPr lang="en-US"/>
          </a:p>
          <a:p>
            <a:pPr lvl="1"/>
            <a:r>
              <a:rPr lang="en-US"/>
              <a:t>Do Not Disturb: </a:t>
            </a:r>
            <a:r>
              <a:rPr lang="en-US">
                <a:sym typeface="+mn-ea"/>
              </a:rPr>
              <a:t>9(45</a:t>
            </a:r>
            <a:r>
              <a:rPr lang="en-US">
                <a:sym typeface="+mn-ea"/>
              </a:rPr>
              <a:t>%)</a:t>
            </a:r>
            <a:endParaRPr lang="en-US">
              <a:sym typeface="+mn-ea"/>
            </a:endParaRPr>
          </a:p>
          <a:p>
            <a:pPr lvl="1"/>
            <a:r>
              <a:rPr lang="en-US"/>
              <a:t>Focus Mode: 11(55%)</a:t>
            </a:r>
            <a:endParaRPr lang="en-US"/>
          </a:p>
          <a:p>
            <a:pPr lvl="1"/>
            <a:r>
              <a:rPr lang="en-US"/>
              <a:t>Wind Down: 8(40%)</a:t>
            </a:r>
            <a:endParaRPr lang="en-US"/>
          </a:p>
          <a:p>
            <a:pPr lvl="1"/>
            <a:r>
              <a:rPr lang="en-US"/>
              <a:t>App Timer: 2(10%)</a:t>
            </a:r>
            <a:endParaRPr lang="en-US"/>
          </a:p>
          <a:p>
            <a:pPr lvl="1"/>
            <a:r>
              <a:rPr lang="en-US"/>
              <a:t>No function useful: 1(5%)</a:t>
            </a:r>
            <a:endParaRPr lang="en-US"/>
          </a:p>
          <a:p>
            <a:r>
              <a:rPr lang="en-US"/>
              <a:t>Analysis result:</a:t>
            </a:r>
            <a:endParaRPr lang="en-US"/>
          </a:p>
          <a:p>
            <a:pPr lvl="1"/>
            <a:r>
              <a:rPr lang="en-US"/>
              <a:t>Most of functions, except App Timer, are considered useful. </a:t>
            </a:r>
            <a:endParaRPr lang="en-US"/>
          </a:p>
        </p:txBody>
      </p:sp>
      <p:pic>
        <p:nvPicPr>
          <p:cNvPr id="19" name="Picture 19"/>
          <p:cNvPicPr/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360795" y="2174240"/>
            <a:ext cx="5440680" cy="295351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Data analysis: Survey data analysis </a:t>
            </a:r>
            <a:r>
              <a:rPr lang="en-US">
                <a:sym typeface="+mn-ea"/>
              </a:rPr>
              <a:t>(cont)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>
                <a:sym typeface="+mn-ea"/>
              </a:rPr>
              <a:t>Question 9 data</a:t>
            </a:r>
            <a:r>
              <a:rPr lang="en-US"/>
              <a:t>:</a:t>
            </a:r>
            <a:endParaRPr lang="en-US"/>
          </a:p>
          <a:p>
            <a:pPr lvl="1"/>
            <a:r>
              <a:rPr lang="en-US"/>
              <a:t>Consider need improvement: 25</a:t>
            </a:r>
            <a:r>
              <a:rPr lang="en-US">
                <a:sym typeface="+mn-ea"/>
              </a:rPr>
              <a:t>%</a:t>
            </a:r>
            <a:endParaRPr lang="en-US"/>
          </a:p>
          <a:p>
            <a:pPr lvl="1"/>
            <a:r>
              <a:rPr lang="en-US"/>
              <a:t>Consider not need improvement: 75%</a:t>
            </a:r>
            <a:endParaRPr lang="en-US"/>
          </a:p>
          <a:p>
            <a:r>
              <a:rPr lang="en-US"/>
              <a:t>Analysis result:</a:t>
            </a:r>
            <a:endParaRPr lang="en-US"/>
          </a:p>
          <a:p>
            <a:pPr lvl="1"/>
            <a:r>
              <a:rPr lang="en-US"/>
              <a:t>These are low amount of people do not satisfy with the application.  </a:t>
            </a:r>
            <a:endParaRPr lang="en-US"/>
          </a:p>
        </p:txBody>
      </p:sp>
      <p:pic>
        <p:nvPicPr>
          <p:cNvPr id="20" name="Picture 20"/>
          <p:cNvPicPr/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365240" y="2174875"/>
            <a:ext cx="5440680" cy="295351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Data analysis: Survey data analysis </a:t>
            </a:r>
            <a:r>
              <a:rPr lang="en-US">
                <a:sym typeface="+mn-ea"/>
              </a:rPr>
              <a:t>(cont)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6017895" cy="4953000"/>
          </a:xfrm>
        </p:spPr>
        <p:txBody>
          <a:bodyPr/>
          <a:p>
            <a:r>
              <a:rPr lang="en-US" sz="3200">
                <a:sym typeface="+mn-ea"/>
              </a:rPr>
              <a:t>Question 10 data</a:t>
            </a:r>
            <a:r>
              <a:rPr lang="en-US" sz="3200">
                <a:sym typeface="+mn-ea"/>
              </a:rPr>
              <a:t>:</a:t>
            </a:r>
            <a:endParaRPr lang="en-US" sz="3200"/>
          </a:p>
          <a:p>
            <a:pPr lvl="1"/>
            <a:r>
              <a:rPr lang="en-US" sz="2800">
                <a:sym typeface="+mn-ea"/>
              </a:rPr>
              <a:t>Dashboard: 1(5</a:t>
            </a:r>
            <a:r>
              <a:rPr lang="en-US" sz="2800">
                <a:sym typeface="+mn-ea"/>
              </a:rPr>
              <a:t>%)</a:t>
            </a:r>
            <a:endParaRPr lang="en-US" sz="2800"/>
          </a:p>
          <a:p>
            <a:pPr lvl="1"/>
            <a:r>
              <a:rPr lang="en-US" sz="2800">
                <a:sym typeface="+mn-ea"/>
              </a:rPr>
              <a:t>Do Not Disturb: 0</a:t>
            </a:r>
            <a:r>
              <a:rPr lang="en-US" sz="2800">
                <a:sym typeface="+mn-ea"/>
              </a:rPr>
              <a:t>(0%)</a:t>
            </a:r>
            <a:endParaRPr lang="en-US" sz="2800">
              <a:sym typeface="+mn-ea"/>
            </a:endParaRPr>
          </a:p>
          <a:p>
            <a:pPr lvl="1"/>
            <a:r>
              <a:rPr lang="en-US" sz="2800">
                <a:sym typeface="+mn-ea"/>
              </a:rPr>
              <a:t>Focus Mode: </a:t>
            </a:r>
            <a:r>
              <a:rPr lang="en-US">
                <a:sym typeface="+mn-ea"/>
              </a:rPr>
              <a:t>0(0%)</a:t>
            </a:r>
            <a:endParaRPr lang="en-US" sz="2800"/>
          </a:p>
          <a:p>
            <a:pPr lvl="1"/>
            <a:r>
              <a:rPr lang="en-US" sz="2800">
                <a:sym typeface="+mn-ea"/>
              </a:rPr>
              <a:t>Wind Down: </a:t>
            </a:r>
            <a:r>
              <a:rPr lang="en-US">
                <a:sym typeface="+mn-ea"/>
              </a:rPr>
              <a:t>0(0%)</a:t>
            </a:r>
            <a:endParaRPr lang="en-US" sz="2800"/>
          </a:p>
          <a:p>
            <a:pPr lvl="1"/>
            <a:r>
              <a:rPr lang="en-US" sz="2800">
                <a:sym typeface="+mn-ea"/>
              </a:rPr>
              <a:t>App Timer: 4(20%)</a:t>
            </a:r>
            <a:endParaRPr lang="en-US" sz="2800"/>
          </a:p>
          <a:p>
            <a:pPr lvl="1"/>
            <a:r>
              <a:rPr lang="en-US" sz="2800">
                <a:sym typeface="+mn-ea"/>
              </a:rPr>
              <a:t>No function need: 15(75%)</a:t>
            </a:r>
            <a:endParaRPr lang="en-US" sz="2800"/>
          </a:p>
          <a:p>
            <a:pPr algn="l">
              <a:buClrTx/>
              <a:buSzTx/>
              <a:buFontTx/>
            </a:pPr>
            <a:r>
              <a:rPr lang="en-US" sz="3200">
                <a:sym typeface="+mn-ea"/>
              </a:rPr>
              <a:t>Analysis result:</a:t>
            </a:r>
            <a:endParaRPr lang="en-US" sz="3200">
              <a:sym typeface="+mn-ea"/>
            </a:endParaRPr>
          </a:p>
          <a:p>
            <a:pPr lvl="1" algn="l">
              <a:buClrTx/>
              <a:buSzTx/>
              <a:buFontTx/>
            </a:pPr>
            <a:r>
              <a:rPr lang="en-US" sz="2800">
                <a:sym typeface="+mn-ea"/>
              </a:rPr>
              <a:t>Significantly, the dissatisfaction is come from App Timer. </a:t>
            </a:r>
            <a:endParaRPr lang="en-US" sz="2800"/>
          </a:p>
          <a:p>
            <a:endParaRPr lang="en-US"/>
          </a:p>
        </p:txBody>
      </p:sp>
      <p:pic>
        <p:nvPicPr>
          <p:cNvPr id="21" name="Picture 21"/>
          <p:cNvPicPr/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360795" y="2174875"/>
            <a:ext cx="5440680" cy="295351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Data analysis: Interview data analysis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1057890" cy="4953000"/>
          </a:xfrm>
        </p:spPr>
        <p:txBody>
          <a:bodyPr/>
          <a:p>
            <a:r>
              <a:rPr lang="en-US" sz="3200">
                <a:sym typeface="+mn-ea"/>
              </a:rPr>
              <a:t>Question 1 information:</a:t>
            </a:r>
            <a:endParaRPr lang="en-US" sz="3200">
              <a:sym typeface="+mn-ea"/>
            </a:endParaRPr>
          </a:p>
          <a:p>
            <a:pPr lvl="1"/>
            <a:r>
              <a:rPr lang="en-US" sz="2800"/>
              <a:t>12 interviewees spent more than 5 hours on their phone.</a:t>
            </a:r>
            <a:endParaRPr lang="en-US" sz="2800"/>
          </a:p>
          <a:p>
            <a:pPr lvl="1"/>
            <a:r>
              <a:rPr lang="en-US" sz="2800"/>
              <a:t>6 interviewees spent two to three hours.</a:t>
            </a:r>
            <a:endParaRPr lang="en-US" sz="2800"/>
          </a:p>
          <a:p>
            <a:pPr lvl="1"/>
            <a:r>
              <a:rPr lang="en-US" sz="2800"/>
              <a:t>Only 2 interviewees spend less than an hour.</a:t>
            </a:r>
            <a:endParaRPr lang="en-US" sz="2800"/>
          </a:p>
          <a:p>
            <a:pPr lvl="1"/>
            <a:endParaRPr lang="en-US" sz="2800"/>
          </a:p>
          <a:p>
            <a:pPr algn="l">
              <a:buClrTx/>
              <a:buSzTx/>
              <a:buFontTx/>
            </a:pPr>
            <a:r>
              <a:rPr lang="en-US" sz="3200">
                <a:sym typeface="+mn-ea"/>
              </a:rPr>
              <a:t>Analysis result:</a:t>
            </a:r>
            <a:endParaRPr lang="en-US" sz="3200">
              <a:sym typeface="+mn-ea"/>
            </a:endParaRPr>
          </a:p>
          <a:p>
            <a:pPr lvl="1" algn="l">
              <a:buClrTx/>
              <a:buSzTx/>
              <a:buFontTx/>
            </a:pPr>
            <a:r>
              <a:rPr lang="en-US" sz="2800">
                <a:sym typeface="+mn-ea"/>
              </a:rPr>
              <a:t>Most of people spend large amount of time on smart phone. </a:t>
            </a:r>
            <a:endParaRPr lang="en-US" sz="2800"/>
          </a:p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Data analysis: Interview data analysis (cont)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1057890" cy="4953000"/>
          </a:xfrm>
        </p:spPr>
        <p:txBody>
          <a:bodyPr/>
          <a:p>
            <a:r>
              <a:rPr lang="en-US" sz="3200">
                <a:sym typeface="+mn-ea"/>
              </a:rPr>
              <a:t>Question 2 information:</a:t>
            </a:r>
            <a:endParaRPr lang="en-US" sz="3200">
              <a:sym typeface="+mn-ea"/>
            </a:endParaRPr>
          </a:p>
          <a:p>
            <a:pPr lvl="1"/>
            <a:r>
              <a:rPr lang="en-US" sz="2800"/>
              <a:t>16 interviewees spent most of time on social media and videos game applications.</a:t>
            </a:r>
            <a:endParaRPr lang="en-US" sz="2800"/>
          </a:p>
          <a:p>
            <a:pPr lvl="1"/>
            <a:r>
              <a:rPr lang="en-US" sz="2800"/>
              <a:t>4 interviewees spent time on application for their work or study. </a:t>
            </a:r>
            <a:endParaRPr lang="en-US" sz="2800"/>
          </a:p>
          <a:p>
            <a:pPr lvl="1"/>
            <a:r>
              <a:rPr lang="en-US" sz="2800"/>
              <a:t>Most of interviewees do not consider their behavior is unhealthy.</a:t>
            </a:r>
            <a:endParaRPr lang="en-US" sz="2800"/>
          </a:p>
          <a:p>
            <a:pPr lvl="1"/>
            <a:endParaRPr lang="en-US" sz="2800"/>
          </a:p>
          <a:p>
            <a:pPr algn="l">
              <a:buClrTx/>
              <a:buSzTx/>
              <a:buFontTx/>
            </a:pPr>
            <a:r>
              <a:rPr lang="en-US" sz="3200">
                <a:sym typeface="+mn-ea"/>
              </a:rPr>
              <a:t>Analysis result:</a:t>
            </a:r>
            <a:endParaRPr lang="en-US" sz="3200">
              <a:sym typeface="+mn-ea"/>
            </a:endParaRPr>
          </a:p>
          <a:p>
            <a:pPr lvl="1" algn="l">
              <a:buClrTx/>
              <a:buSzTx/>
              <a:buFontTx/>
            </a:pPr>
            <a:r>
              <a:rPr lang="en-US" sz="2800">
                <a:sym typeface="+mn-ea"/>
              </a:rPr>
              <a:t>More than half of people are spending their time on unhealthy applications. </a:t>
            </a:r>
            <a:endParaRPr lang="en-US" sz="2800"/>
          </a:p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Data analysis: Interview data analysis (cont)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1057890" cy="4953000"/>
          </a:xfrm>
        </p:spPr>
        <p:txBody>
          <a:bodyPr/>
          <a:p>
            <a:r>
              <a:rPr lang="en-US" sz="3200">
                <a:sym typeface="+mn-ea"/>
              </a:rPr>
              <a:t>Question 3 information:</a:t>
            </a:r>
            <a:endParaRPr lang="en-US" sz="3200">
              <a:sym typeface="+mn-ea"/>
            </a:endParaRPr>
          </a:p>
          <a:p>
            <a:pPr lvl="1"/>
            <a:r>
              <a:rPr lang="en-US" sz="2800"/>
              <a:t>After using Google Digital Wellbeing, most of interviewees behavior is becoming healthier. </a:t>
            </a:r>
            <a:endParaRPr lang="en-US" sz="2800"/>
          </a:p>
          <a:p>
            <a:pPr lvl="1"/>
            <a:r>
              <a:rPr lang="en-US" sz="2800"/>
              <a:t>However, 6 interviewees are only slightly better or not better.</a:t>
            </a:r>
            <a:endParaRPr lang="en-US" sz="2800"/>
          </a:p>
          <a:p>
            <a:pPr lvl="1"/>
            <a:endParaRPr lang="en-US" sz="2800"/>
          </a:p>
          <a:p>
            <a:pPr algn="l">
              <a:buClrTx/>
              <a:buSzTx/>
              <a:buFontTx/>
            </a:pPr>
            <a:r>
              <a:rPr lang="en-US" sz="3200">
                <a:sym typeface="+mn-ea"/>
              </a:rPr>
              <a:t>Analysis result:</a:t>
            </a:r>
            <a:endParaRPr lang="en-US" sz="3200">
              <a:sym typeface="+mn-ea"/>
            </a:endParaRPr>
          </a:p>
          <a:p>
            <a:pPr lvl="1" algn="l">
              <a:buClrTx/>
              <a:buSzTx/>
              <a:buFontTx/>
            </a:pPr>
            <a:r>
              <a:rPr lang="en-US" sz="2800">
                <a:sym typeface="+mn-ea"/>
              </a:rPr>
              <a:t>Google Digital Wellbeing help most of users modify their behavor become healthier. </a:t>
            </a:r>
            <a:endParaRPr lang="en-US" sz="2800"/>
          </a:p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Data analysis: Interview data analysis (cont)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1057890" cy="4953000"/>
          </a:xfrm>
        </p:spPr>
        <p:txBody>
          <a:bodyPr/>
          <a:p>
            <a:r>
              <a:rPr lang="en-US" sz="3200">
                <a:sym typeface="+mn-ea"/>
              </a:rPr>
              <a:t>Question 4 information:</a:t>
            </a:r>
            <a:endParaRPr lang="en-US" sz="3200">
              <a:sym typeface="+mn-ea"/>
            </a:endParaRPr>
          </a:p>
          <a:p>
            <a:pPr lvl="1"/>
            <a:r>
              <a:rPr lang="en-US" sz="2800"/>
              <a:t>Most interviewees have positive feed back on the application.</a:t>
            </a:r>
            <a:endParaRPr lang="en-US" sz="2800"/>
          </a:p>
          <a:p>
            <a:pPr lvl="1"/>
            <a:r>
              <a:rPr lang="en-US" sz="2800"/>
              <a:t>Their reason is that it includes various kind of features which help them have multiple choice. </a:t>
            </a:r>
            <a:endParaRPr lang="en-US" sz="2800"/>
          </a:p>
          <a:p>
            <a:pPr lvl="1"/>
            <a:r>
              <a:rPr lang="en-US" sz="2800"/>
              <a:t>However, it only has smart effect on some of interviewees.</a:t>
            </a:r>
            <a:endParaRPr lang="en-US" sz="2800"/>
          </a:p>
          <a:p>
            <a:pPr marL="457200" lvl="1" indent="0">
              <a:buNone/>
            </a:pPr>
            <a:endParaRPr lang="en-US" sz="2800"/>
          </a:p>
          <a:p>
            <a:pPr algn="l">
              <a:buClrTx/>
              <a:buSzTx/>
              <a:buFontTx/>
            </a:pPr>
            <a:r>
              <a:rPr lang="en-US" sz="3200">
                <a:sym typeface="+mn-ea"/>
              </a:rPr>
              <a:t>Analysis result:</a:t>
            </a:r>
            <a:endParaRPr lang="en-US" sz="3200">
              <a:sym typeface="+mn-ea"/>
            </a:endParaRPr>
          </a:p>
          <a:p>
            <a:pPr lvl="1" algn="l">
              <a:buClrTx/>
              <a:buSzTx/>
              <a:buFontTx/>
            </a:pPr>
            <a:r>
              <a:rPr lang="en-US" sz="2800">
                <a:sym typeface="+mn-ea"/>
              </a:rPr>
              <a:t>Google Digital Wellbeing has great effect on users. </a:t>
            </a:r>
            <a:endParaRPr lang="en-US" sz="2800"/>
          </a:p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Data analysis: Interview data analysis (cont)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1057890" cy="4953000"/>
          </a:xfrm>
        </p:spPr>
        <p:txBody>
          <a:bodyPr/>
          <a:p>
            <a:r>
              <a:rPr lang="en-US" sz="3200">
                <a:sym typeface="+mn-ea"/>
              </a:rPr>
              <a:t>Question 5 information:</a:t>
            </a:r>
            <a:endParaRPr lang="en-US" sz="3200">
              <a:sym typeface="+mn-ea"/>
            </a:endParaRPr>
          </a:p>
          <a:p>
            <a:pPr lvl="1"/>
            <a:r>
              <a:rPr lang="en-US" sz="2800"/>
              <a:t>7 interviewees claimed Wind Down is the most useful which stop them using phone at night.</a:t>
            </a:r>
            <a:endParaRPr lang="en-US" sz="2800"/>
          </a:p>
          <a:p>
            <a:pPr lvl="1"/>
            <a:r>
              <a:rPr lang="en-US" sz="2800"/>
              <a:t>7 interviewees consider Focus Mode because it help them more focus on their activities,</a:t>
            </a:r>
            <a:endParaRPr lang="en-US" sz="2800"/>
          </a:p>
          <a:p>
            <a:pPr lvl="1"/>
            <a:r>
              <a:rPr lang="en-US" sz="2800"/>
              <a:t>4 interviewees choose App timer because it help reducing their addiction on smart phone.</a:t>
            </a:r>
            <a:endParaRPr lang="en-US" sz="2800"/>
          </a:p>
          <a:p>
            <a:pPr lvl="1"/>
            <a:r>
              <a:rPr lang="en-US" sz="2800"/>
              <a:t>Unfortunately, 2 interviewees think no function is useful.  </a:t>
            </a:r>
            <a:endParaRPr lang="en-US" sz="2800"/>
          </a:p>
          <a:p>
            <a:pPr algn="l">
              <a:buClrTx/>
              <a:buSzTx/>
              <a:buFontTx/>
            </a:pPr>
            <a:r>
              <a:rPr lang="en-US" sz="3200">
                <a:sym typeface="+mn-ea"/>
              </a:rPr>
              <a:t>Analysis result:</a:t>
            </a:r>
            <a:endParaRPr lang="en-US" sz="3200">
              <a:sym typeface="+mn-ea"/>
            </a:endParaRPr>
          </a:p>
          <a:p>
            <a:pPr lvl="1" algn="l">
              <a:buClrTx/>
              <a:buSzTx/>
              <a:buFontTx/>
            </a:pPr>
            <a:r>
              <a:rPr lang="en-US" sz="2800">
                <a:sym typeface="+mn-ea"/>
              </a:rPr>
              <a:t>With the information, the research find out that Wind Down and Focus Mode are mostly considered. </a:t>
            </a:r>
            <a:endParaRPr lang="en-US" sz="2800"/>
          </a:p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Data analysis: Interview data analysis (cont)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1057890" cy="4953000"/>
          </a:xfrm>
        </p:spPr>
        <p:txBody>
          <a:bodyPr/>
          <a:p>
            <a:r>
              <a:rPr lang="en-US" sz="3200">
                <a:sym typeface="+mn-ea"/>
              </a:rPr>
              <a:t>Question 6 information:</a:t>
            </a:r>
            <a:endParaRPr lang="en-US" sz="3200">
              <a:sym typeface="+mn-ea"/>
            </a:endParaRPr>
          </a:p>
          <a:p>
            <a:pPr lvl="1"/>
            <a:r>
              <a:rPr lang="en-US" sz="2800"/>
              <a:t>Most interviewees think the application does not need for improvement.</a:t>
            </a:r>
            <a:endParaRPr lang="en-US" sz="2800"/>
          </a:p>
          <a:p>
            <a:pPr lvl="1"/>
            <a:r>
              <a:rPr lang="en-US" sz="2800"/>
              <a:t>But some interviewees think that App timer need to be improved. </a:t>
            </a:r>
            <a:endParaRPr lang="en-US" sz="2800"/>
          </a:p>
          <a:p>
            <a:pPr lvl="1"/>
            <a:r>
              <a:rPr lang="en-US" sz="2800"/>
              <a:t>App timer is considered that not strict enough to prevent people from addicting. The features can be easily cancelled.</a:t>
            </a:r>
            <a:endParaRPr lang="en-US" sz="2800"/>
          </a:p>
          <a:p>
            <a:pPr lvl="1"/>
            <a:r>
              <a:rPr lang="en-US" sz="2800"/>
              <a:t>interviewees think that the feature should be more forceful.   </a:t>
            </a:r>
            <a:endParaRPr lang="en-US" sz="2800"/>
          </a:p>
          <a:p>
            <a:pPr algn="l">
              <a:buClrTx/>
              <a:buSzTx/>
              <a:buFontTx/>
            </a:pPr>
            <a:r>
              <a:rPr lang="en-US" sz="3200">
                <a:sym typeface="+mn-ea"/>
              </a:rPr>
              <a:t>Analysis result:</a:t>
            </a:r>
            <a:endParaRPr lang="en-US" sz="3200">
              <a:sym typeface="+mn-ea"/>
            </a:endParaRPr>
          </a:p>
          <a:p>
            <a:pPr lvl="1" algn="l">
              <a:buClrTx/>
              <a:buSzTx/>
              <a:buFontTx/>
            </a:pPr>
            <a:r>
              <a:rPr lang="en-US" sz="2800">
                <a:sym typeface="+mn-ea"/>
              </a:rPr>
              <a:t>Significantly, most of features is good enough for users, howveer, App Timer need for improvement as users mentioned. </a:t>
            </a:r>
            <a:endParaRPr lang="en-US" sz="2800"/>
          </a:p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Outcome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These are three outcomes of the research project:</a:t>
            </a:r>
            <a:endParaRPr lang="en-US"/>
          </a:p>
          <a:p>
            <a:pPr lvl="1"/>
            <a:r>
              <a:rPr lang="en-US" sz="3200"/>
              <a:t>Unhealthy behaviors of people on their smart phone.</a:t>
            </a:r>
            <a:endParaRPr lang="en-US" sz="3200"/>
          </a:p>
          <a:p>
            <a:pPr lvl="1"/>
            <a:r>
              <a:rPr lang="en-US" sz="3200"/>
              <a:t>Main features of Google Digital Wellbeing</a:t>
            </a:r>
            <a:endParaRPr lang="en-US" sz="3200"/>
          </a:p>
          <a:p>
            <a:pPr lvl="1"/>
            <a:r>
              <a:rPr lang="en-US" sz="3200"/>
              <a:t>Efficiency of Google Digital Wellbeing</a:t>
            </a:r>
            <a:endParaRPr lang="en-US" sz="32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Outcome: First outcome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3200"/>
              <a:t>In general, the first outcome has proved that most of smart phone users have unhealthy behaviors.</a:t>
            </a:r>
            <a:endParaRPr lang="en-US" sz="3200"/>
          </a:p>
          <a:p>
            <a:r>
              <a:rPr lang="en-US" sz="3200"/>
              <a:t>Users spend more than three hours in average on their phone which considered too much.</a:t>
            </a:r>
            <a:endParaRPr lang="en-US" sz="3200"/>
          </a:p>
          <a:p>
            <a:r>
              <a:rPr lang="en-US" sz="3200"/>
              <a:t>Users prefer to use the unhealthy applications (Videos game, social media, ...) instead of healthy one. </a:t>
            </a:r>
            <a:endParaRPr lang="en-US" sz="3200"/>
          </a:p>
          <a:p>
            <a:r>
              <a:rPr lang="en-US" sz="3200"/>
              <a:t>The outcome is supported by the data provided from survye and interview.</a:t>
            </a:r>
            <a:endParaRPr lang="en-US" sz="3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Outcome: Second outcome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3200"/>
              <a:t>The second outcome includes the information of 4 main features of Google Digital Well being:</a:t>
            </a:r>
            <a:endParaRPr lang="en-US" sz="3200"/>
          </a:p>
          <a:p>
            <a:pPr lvl="1"/>
            <a:r>
              <a:rPr lang="en-US" sz="2800"/>
              <a:t>Dashboard</a:t>
            </a:r>
            <a:endParaRPr lang="en-US" sz="2800"/>
          </a:p>
          <a:p>
            <a:pPr lvl="1"/>
            <a:r>
              <a:rPr lang="en-US" sz="2800"/>
              <a:t>Focus Mode</a:t>
            </a:r>
            <a:endParaRPr lang="en-US" sz="2800"/>
          </a:p>
          <a:p>
            <a:pPr lvl="1"/>
            <a:r>
              <a:rPr lang="en-US" sz="2800"/>
              <a:t>App Timer</a:t>
            </a:r>
            <a:endParaRPr lang="en-US" sz="2800"/>
          </a:p>
          <a:p>
            <a:pPr lvl="1"/>
            <a:r>
              <a:rPr lang="en-US" sz="2800"/>
              <a:t>Wind Down</a:t>
            </a:r>
            <a:endParaRPr lang="en-US" sz="2800"/>
          </a:p>
          <a:p>
            <a:pPr lvl="1"/>
            <a:r>
              <a:rPr lang="en-US" sz="2800"/>
              <a:t>Do Not Disturb</a:t>
            </a:r>
            <a:endParaRPr lang="en-US" sz="32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Outcome: Second outcome (cont)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 sz="2800" b="1"/>
              <a:t>Dash board:</a:t>
            </a:r>
            <a:endParaRPr lang="en-US" sz="2800" b="1"/>
          </a:p>
          <a:p>
            <a:r>
              <a:rPr lang="en-US" sz="2800"/>
              <a:t>Allow users to see how they spend time on their phone:</a:t>
            </a:r>
            <a:endParaRPr lang="en-US" sz="2800"/>
          </a:p>
          <a:p>
            <a:pPr lvl="1"/>
            <a:r>
              <a:rPr lang="en-US" sz="2450"/>
              <a:t>Show the total time spend on phone in the day .</a:t>
            </a:r>
            <a:endParaRPr lang="en-US" sz="2450"/>
          </a:p>
          <a:p>
            <a:pPr lvl="1"/>
            <a:r>
              <a:rPr lang="en-US" sz="2450"/>
              <a:t>Show the time on each applications</a:t>
            </a:r>
            <a:endParaRPr lang="en-US" sz="2450"/>
          </a:p>
          <a:p>
            <a:pPr lvl="1"/>
            <a:r>
              <a:rPr lang="en-US" sz="2450"/>
              <a:t>Show the daily notifications</a:t>
            </a:r>
            <a:endParaRPr lang="en-US" sz="2450"/>
          </a:p>
          <a:p>
            <a:pPr marL="0" indent="0">
              <a:buNone/>
            </a:pPr>
            <a:endParaRPr lang="en-US" sz="2800"/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8006715" y="875030"/>
            <a:ext cx="2968625" cy="555244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Outcome: Second outcome (cont)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 sz="2800" b="1"/>
              <a:t>Focus Mode:</a:t>
            </a:r>
            <a:endParaRPr lang="en-US" sz="2800" b="1"/>
          </a:p>
          <a:p>
            <a:r>
              <a:rPr lang="en-US" sz="2800"/>
              <a:t>Prevent applicatons to distract users:</a:t>
            </a:r>
            <a:endParaRPr lang="en-US" sz="2800"/>
          </a:p>
          <a:p>
            <a:pPr lvl="1"/>
            <a:r>
              <a:rPr lang="en-US" sz="2450"/>
              <a:t>Inctivate the selected distracting application.</a:t>
            </a:r>
            <a:endParaRPr lang="en-US" sz="2450"/>
          </a:p>
          <a:p>
            <a:pPr lvl="1"/>
            <a:r>
              <a:rPr lang="en-US" sz="2450"/>
              <a:t>Easy to turn on and turn off</a:t>
            </a:r>
            <a:endParaRPr lang="en-US" sz="2450"/>
          </a:p>
          <a:p>
            <a:pPr lvl="1"/>
            <a:r>
              <a:rPr lang="en-US" sz="2450"/>
              <a:t>Able to select multiple applications.</a:t>
            </a:r>
            <a:endParaRPr lang="en-US" sz="2450"/>
          </a:p>
          <a:p>
            <a:pPr marL="0" indent="0">
              <a:buNone/>
            </a:pPr>
            <a:endParaRPr lang="en-US" sz="2800"/>
          </a:p>
        </p:txBody>
      </p:sp>
      <p:pic>
        <p:nvPicPr>
          <p:cNvPr id="6" name="Content Placeholder 5"/>
          <p:cNvPicPr/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8002905" y="875665"/>
            <a:ext cx="2971800" cy="555040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Outcome: Second outcome (cont)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 sz="2800" b="1"/>
              <a:t>App timer:</a:t>
            </a:r>
            <a:endParaRPr lang="en-US" sz="2800" b="1"/>
          </a:p>
          <a:p>
            <a:r>
              <a:rPr lang="en-US" sz="2800"/>
              <a:t>Allow users to control applications usage:</a:t>
            </a:r>
            <a:endParaRPr lang="en-US" sz="2800"/>
          </a:p>
          <a:p>
            <a:pPr lvl="1"/>
            <a:r>
              <a:rPr lang="en-US" sz="2450"/>
              <a:t>Set the time limit for each application .</a:t>
            </a:r>
            <a:endParaRPr lang="en-US" sz="2450"/>
          </a:p>
          <a:p>
            <a:pPr lvl="1"/>
            <a:r>
              <a:rPr lang="en-US" sz="2450"/>
              <a:t>The application will be shut down if the usage reach the limit.</a:t>
            </a:r>
            <a:endParaRPr lang="en-US" sz="2450"/>
          </a:p>
          <a:p>
            <a:pPr lvl="1"/>
            <a:r>
              <a:rPr lang="en-US" sz="2450"/>
              <a:t>The feature will prevent users to use the shut down application in the day.</a:t>
            </a:r>
            <a:endParaRPr lang="en-US" sz="2450"/>
          </a:p>
          <a:p>
            <a:pPr lvl="1"/>
            <a:endParaRPr lang="en-US" sz="2450"/>
          </a:p>
          <a:p>
            <a:pPr marL="0" indent="0">
              <a:buNone/>
            </a:pPr>
            <a:endParaRPr lang="en-US" sz="2800"/>
          </a:p>
        </p:txBody>
      </p:sp>
      <p:pic>
        <p:nvPicPr>
          <p:cNvPr id="8" name="Content Placeholder 7" descr="Screenshot_20200424-140926"/>
          <p:cNvPicPr/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8005445" y="875665"/>
            <a:ext cx="2971800" cy="555040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Outcome: Second outcome (cont)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 sz="2800" b="1"/>
              <a:t>Wind Down:</a:t>
            </a:r>
            <a:endParaRPr lang="en-US" sz="2800" b="1"/>
          </a:p>
          <a:p>
            <a:r>
              <a:rPr lang="en-US" sz="2800"/>
              <a:t>Wind Down adjust user behavior indirectly:</a:t>
            </a:r>
            <a:endParaRPr lang="en-US" sz="2800"/>
          </a:p>
          <a:p>
            <a:pPr lvl="1"/>
            <a:r>
              <a:rPr lang="en-US" sz="2450"/>
              <a:t>Block the notifications for users.</a:t>
            </a:r>
            <a:endParaRPr lang="en-US" sz="2450"/>
          </a:p>
          <a:p>
            <a:pPr lvl="1"/>
            <a:r>
              <a:rPr lang="en-US" sz="2450"/>
              <a:t>Turn the interface color to Black and White in the night time.</a:t>
            </a:r>
            <a:endParaRPr lang="en-US" sz="2450"/>
          </a:p>
          <a:p>
            <a:pPr lvl="1"/>
            <a:r>
              <a:rPr lang="en-US" sz="2450"/>
              <a:t>The feature will make the smart phone become boring.</a:t>
            </a:r>
            <a:endParaRPr lang="en-US" sz="2450"/>
          </a:p>
          <a:p>
            <a:pPr marL="0" indent="0">
              <a:buNone/>
            </a:pPr>
            <a:endParaRPr lang="en-US" sz="2800"/>
          </a:p>
        </p:txBody>
      </p:sp>
      <p:pic>
        <p:nvPicPr>
          <p:cNvPr id="6" name="Content Placeholder 5" descr="Screenshot_20200424-141428"/>
          <p:cNvPicPr/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8014970" y="876300"/>
            <a:ext cx="2971800" cy="555040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Outcome: Third outcome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704195" cy="4953000"/>
          </a:xfrm>
        </p:spPr>
        <p:txBody>
          <a:bodyPr/>
          <a:p>
            <a:r>
              <a:rPr lang="en-US" sz="3200"/>
              <a:t>The third outcome is about the efficiency of Google Digital Wellbeing.</a:t>
            </a:r>
            <a:endParaRPr lang="en-US" sz="3200"/>
          </a:p>
          <a:p>
            <a:r>
              <a:rPr lang="en-US" sz="3200"/>
              <a:t>After analyzing the data, Google Digital Wellbeing has been proved that it has good effective impact on people smart phone behavior.</a:t>
            </a:r>
            <a:endParaRPr lang="en-US" sz="3200"/>
          </a:p>
          <a:p>
            <a:r>
              <a:rPr lang="en-US" sz="3200"/>
              <a:t>It effectively on reducing the time people spend on the smart phone.</a:t>
            </a:r>
            <a:endParaRPr lang="en-US" sz="3200"/>
          </a:p>
          <a:p>
            <a:r>
              <a:rPr lang="en-US" sz="3200"/>
              <a:t>Most of its features have positive feedback from users.</a:t>
            </a:r>
            <a:endParaRPr lang="en-US" sz="3200"/>
          </a:p>
          <a:p>
            <a:r>
              <a:rPr lang="en-US" sz="3200"/>
              <a:t>Most of users consider the application is good.</a:t>
            </a:r>
            <a:endParaRPr lang="en-US" sz="3200"/>
          </a:p>
          <a:p>
            <a:endParaRPr lang="en-US" sz="2450"/>
          </a:p>
          <a:p>
            <a:pPr marL="0" indent="0">
              <a:buNone/>
            </a:pPr>
            <a:endParaRPr lang="en-US" sz="2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Conclusion and Evaluation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The research project has successfully fulfilled five objectives.</a:t>
            </a:r>
            <a:endParaRPr lang="en-US"/>
          </a:p>
          <a:p>
            <a:pPr lvl="1"/>
            <a:r>
              <a:rPr lang="en-US" sz="2800">
                <a:sym typeface="+mn-ea"/>
              </a:rPr>
              <a:t>Understand and find out that people have unhealthy smart phone usage.</a:t>
            </a:r>
            <a:endParaRPr lang="en-US" sz="2800">
              <a:sym typeface="+mn-ea"/>
            </a:endParaRPr>
          </a:p>
          <a:p>
            <a:pPr lvl="1"/>
            <a:r>
              <a:rPr lang="en-US" sz="2800">
                <a:sym typeface="+mn-ea"/>
              </a:rPr>
              <a:t>Discover the key features of Google Digital Wellbeing.</a:t>
            </a:r>
            <a:endParaRPr lang="en-US" sz="2800">
              <a:sym typeface="+mn-ea"/>
            </a:endParaRPr>
          </a:p>
          <a:p>
            <a:pPr lvl="1"/>
            <a:r>
              <a:rPr lang="en-US" sz="2800">
                <a:sym typeface="+mn-ea"/>
              </a:rPr>
              <a:t>The opinions of users have been collected.</a:t>
            </a:r>
            <a:endParaRPr lang="en-US" sz="2800">
              <a:sym typeface="+mn-ea"/>
            </a:endParaRPr>
          </a:p>
          <a:p>
            <a:pPr lvl="1"/>
            <a:r>
              <a:rPr lang="en-US" sz="2800">
                <a:sym typeface="+mn-ea"/>
              </a:rPr>
              <a:t>The accuracy of the opinions has been analyzed.</a:t>
            </a:r>
            <a:endParaRPr lang="en-US" sz="2800">
              <a:sym typeface="+mn-ea"/>
            </a:endParaRPr>
          </a:p>
          <a:p>
            <a:pPr lvl="1"/>
            <a:r>
              <a:rPr lang="en-US" sz="2800">
                <a:sym typeface="+mn-ea"/>
              </a:rPr>
              <a:t>With the opinions, the research has concluded the application has good efficiency.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Q &amp; 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sz="2400"/>
              <a:t>1.</a:t>
            </a:r>
            <a:r>
              <a:rPr lang="en-US" sz="2400"/>
              <a:t> Are you using Google Digital Wellbeing?</a:t>
            </a:r>
            <a:endParaRPr lang="en-US" sz="2400"/>
          </a:p>
          <a:p>
            <a:r>
              <a:rPr lang="en-US" sz="2400"/>
              <a:t>Yes, I am using it because I was having unhealthy usage before.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2. How does Google Digital Wellbeing affect you?</a:t>
            </a:r>
            <a:endParaRPr lang="en-US" sz="2400"/>
          </a:p>
          <a:p>
            <a:r>
              <a:rPr lang="en-US" sz="2400"/>
              <a:t>It help me limit the development of unhealthy behavior which can impact my own life seriously. 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3. Do you think Google Digital Wellbeing is necessary for society?</a:t>
            </a:r>
            <a:endParaRPr lang="en-US" sz="2400"/>
          </a:p>
          <a:p>
            <a:r>
              <a:rPr lang="en-US" sz="2400"/>
              <a:t>Yes, I do. Because it will reduce the time people spend for smart phone and let them spending more time on other healthy and meaningful activities. 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4. Do you think Google Digital Wellbeing is needed for improvement?</a:t>
            </a:r>
            <a:endParaRPr lang="en-US" sz="2400"/>
          </a:p>
          <a:p>
            <a:r>
              <a:rPr lang="en-US" sz="2400"/>
              <a:t>Yes, I do. Although the research have proved its efficiency, I still found some drawbacks in my experience.  </a:t>
            </a:r>
            <a:endParaRPr lang="en-US" sz="2400"/>
          </a:p>
          <a:p>
            <a:pPr marL="0" indent="0">
              <a:buNone/>
            </a:pPr>
            <a:endParaRPr lang="en-US" sz="2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02915"/>
            <a:ext cx="10972800" cy="582613"/>
          </a:xfrm>
        </p:spPr>
        <p:txBody>
          <a:bodyPr/>
          <a:p>
            <a:pPr algn="ctr"/>
            <a:r>
              <a:rPr lang="en-US"/>
              <a:t>Thank you for listening!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10275</Words>
  <Application>WPS Presentation</Application>
  <PresentationFormat>Widescreen</PresentationFormat>
  <Paragraphs>363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5" baseType="lpstr">
      <vt:lpstr>Arial</vt:lpstr>
      <vt:lpstr>SimSun</vt:lpstr>
      <vt:lpstr>Wingdings</vt:lpstr>
      <vt:lpstr>Microsoft YaHei</vt:lpstr>
      <vt:lpstr>Arial Unicode MS</vt:lpstr>
      <vt:lpstr>Calibri</vt:lpstr>
      <vt:lpstr>Blue Waves</vt:lpstr>
      <vt:lpstr>How Google Digital Wellbeing improve people life</vt:lpstr>
      <vt:lpstr>Table of contents</vt:lpstr>
      <vt:lpstr>Introduction</vt:lpstr>
      <vt:lpstr>Literature review: Quantitative research</vt:lpstr>
      <vt:lpstr>Literature review: Quantitative research (cont)</vt:lpstr>
      <vt:lpstr>Literature review: Qualitative research</vt:lpstr>
      <vt:lpstr>Literature review: Qualitative research (cont)</vt:lpstr>
      <vt:lpstr>Data collection</vt:lpstr>
      <vt:lpstr>Data collection: Survey</vt:lpstr>
      <vt:lpstr>Data collection: Interview</vt:lpstr>
      <vt:lpstr>Data collection: Collect data from internet</vt:lpstr>
      <vt:lpstr>Data analysis: Survey data analysis (cont)</vt:lpstr>
      <vt:lpstr>Data analysis: Survey data analysis (cont)</vt:lpstr>
      <vt:lpstr>Data analysis: Survey data analysis (cont)</vt:lpstr>
      <vt:lpstr>Data analysis: Survey data analysis (cont)</vt:lpstr>
      <vt:lpstr>Data analysis: Survey data analysis (cont)</vt:lpstr>
      <vt:lpstr>Data analysis: Survey data analysis (cont)</vt:lpstr>
      <vt:lpstr>Data analysis: Survey data analysis (cont)</vt:lpstr>
      <vt:lpstr>Data analysis: Survey data analysis (cont)</vt:lpstr>
      <vt:lpstr>Data analysis: Survey data analysis (cont)</vt:lpstr>
      <vt:lpstr>Data analysis: Survey data analysis (cont)</vt:lpstr>
      <vt:lpstr>Data analysis: Interview data analysis</vt:lpstr>
      <vt:lpstr>Data analysis: Interview data analysis (cont)</vt:lpstr>
      <vt:lpstr>Data analysis: Interview data analysis (cont)</vt:lpstr>
      <vt:lpstr>Data analysis: Interview data analysis (cont)</vt:lpstr>
      <vt:lpstr>Data analysis: Interview data analysis (cont)</vt:lpstr>
      <vt:lpstr>Data analysis: Interview data analysis (cont)</vt:lpstr>
      <vt:lpstr>Outcome</vt:lpstr>
      <vt:lpstr>Outcome: First outcome</vt:lpstr>
      <vt:lpstr>Outcome: Second outcome</vt:lpstr>
      <vt:lpstr>Outcome: Second outcome (cont)</vt:lpstr>
      <vt:lpstr>Outcome: Second outcome (cont)</vt:lpstr>
      <vt:lpstr>Outcome: Second outcome (cont)</vt:lpstr>
      <vt:lpstr>Outcome: Second outcome (cont)</vt:lpstr>
      <vt:lpstr>Outcome: Third outcome</vt:lpstr>
      <vt:lpstr>Conclusion and Evaluation</vt:lpstr>
      <vt:lpstr>Q &amp; A</vt:lpstr>
      <vt:lpstr>Thank you for listening!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Google Digital Wellbeing improve people life</dc:title>
  <dc:creator/>
  <cp:lastModifiedBy>USER</cp:lastModifiedBy>
  <cp:revision>21</cp:revision>
  <dcterms:created xsi:type="dcterms:W3CDTF">2020-04-24T04:14:00Z</dcterms:created>
  <dcterms:modified xsi:type="dcterms:W3CDTF">2020-04-29T05:13:07Z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1033-11.2.0.9281</vt:lpwstr>
  </property>
</Properties>
</file>